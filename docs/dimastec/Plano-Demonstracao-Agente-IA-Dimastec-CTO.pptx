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463040"/>
            <a:ext cx="5029200" cy="5029200"/>
          </a:xfrm>
          <a:prstGeom prst="ellipse">
            <a:avLst/>
          </a:prstGeom>
          <a:solidFill>
            <a:srgbClr val="24307A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4023360" cy="4023360"/>
          </a:xfrm>
          <a:prstGeom prst="ellipse">
            <a:avLst/>
          </a:prstGeom>
          <a:solidFill>
            <a:srgbClr val="28357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34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CONSTRUIR UM AGENTE DE IA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ao Cliente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 etapas do método aplicadas ao assistente técnico do Saturno-Calc / MYDAS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4572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Dimastec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5029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CTO · Natanael Morais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5806440"/>
            <a:ext cx="2926080" cy="320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Everton Lima · 29 de agosto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agenda da sessão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43000" y="2514600"/>
            <a:ext cx="457200" cy="45720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54203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4688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vê um agente em funcionamento aplicado ao contexto real da Dimastec — não um guia teórico.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43000" y="3657600"/>
            <a:ext cx="457200" cy="45720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368503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36118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o método das 8 etapas como padrão para os demais casos de uso.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43000" y="4800600"/>
            <a:ext cx="457200" cy="45720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28032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47548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um próximo passo concreto: o piloto do assistente técnico read-only.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2084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23760" y="170992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183880" y="181965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0" y="170992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o método das 8 etapas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20840" y="2404872"/>
            <a:ext cx="4617720" cy="0"/>
          </a:xfrm>
          <a:prstGeom prst="line">
            <a:avLst/>
          </a:prstGeom>
          <a:noFill/>
          <a:ln w="12700">
            <a:solidFill>
              <a:srgbClr val="DCE7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56032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257860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268833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0" y="25786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ao vivo do assistente técnico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20840" y="3273552"/>
            <a:ext cx="4617720" cy="0"/>
          </a:xfrm>
          <a:prstGeom prst="line">
            <a:avLst/>
          </a:prstGeom>
          <a:noFill/>
          <a:ln w="12700">
            <a:solidFill>
              <a:srgbClr val="DCE7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20840" y="34290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223760" y="344728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183880" y="355701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86800" y="344728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guardrails na prática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720840" y="4142232"/>
            <a:ext cx="4617720" cy="0"/>
          </a:xfrm>
          <a:prstGeom prst="line">
            <a:avLst/>
          </a:prstGeom>
          <a:noFill/>
          <a:ln w="12700">
            <a:solidFill>
              <a:srgbClr val="DCE7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429768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223760" y="431596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183880" y="442569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86800" y="431596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e como medir qualidade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720840" y="5010912"/>
            <a:ext cx="4617720" cy="0"/>
          </a:xfrm>
          <a:prstGeom prst="line">
            <a:avLst/>
          </a:prstGeom>
          <a:noFill/>
          <a:ln w="12700">
            <a:solidFill>
              <a:srgbClr val="DCE7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516636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223760" y="5184648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183880" y="529437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5184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 e piloto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8 etapas do guia em um só fluxo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F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8288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05840" y="260604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Segurança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3291840" y="23774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566160" y="169164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66160" y="18288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49040" y="260604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035040" y="23774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9164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18288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92240" y="260604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o LLM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778240" y="237744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052560" y="169164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52560" y="18288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235440" y="260604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(MCP)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22960" y="3886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40233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1005840" y="480060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(RAG)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3291840" y="4572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3566160" y="3886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566160" y="40233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3749040" y="480060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035040" y="4572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6"/>
          <p:cNvSpPr/>
          <p:nvPr/>
        </p:nvSpPr>
        <p:spPr>
          <a:xfrm>
            <a:off x="6309360" y="3886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DCE7F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9360" y="40233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492240" y="480060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778240" y="4572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9052560" y="388620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F276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052560" y="402336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34" name="Text 32"/>
          <p:cNvSpPr/>
          <p:nvPr/>
        </p:nvSpPr>
        <p:spPr>
          <a:xfrm>
            <a:off x="9235440" y="4800600"/>
            <a:ext cx="2148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&amp; Evals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pensada para valor rápido (MCP + RAG respondem no dia 1) e segurança antes de escala (guardrails e evals desde o início).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Setup, escopo e barreiras de segurança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o propósito em 1 linha: tirar dúvidas do time sobre o Saturno/MYDAS lendo ADRs e código — sem escrever e sem tocar produção.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o critério de sucesso: resposta certa + cita a fonte de onde tirou.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 os guardrails mínimos: proibido escrever, proibido dados de produção, sempre citar fonte. Classifique o caso como IA aplicada (não-dados sensíveis).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com o CTO os limites antes de qualquer código.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Cada soul declara propósitos e permissões em config.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 runtime aplica allowlist de ferramentas e nega o resto por padrão (fail-closed).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Alinhado à POL-IA-001 e à classificação de casos de uso da Dimastec.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1132027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113202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19579" y="6199632"/>
            <a:ext cx="1207008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19579" y="6190488"/>
            <a:ext cx="12070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491179" y="6199632"/>
            <a:ext cx="1656893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1179" y="6190488"/>
            <a:ext cx="165689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IA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— o comando que define o agente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Claude Code, o prompt mora no arquivo de instruções do projeto/agente (ex.: AGENTS.md ou o prompt do subagente).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arquiteto sênior de Java que conhece o Saturno/MYDAS e responde em português com fonte.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Instruções: explicar a migração procedure → Java, citar camadas/patterns do hub (DAO, @Secured, route handler), responder só com base no material indexado.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visíveis: nunca escrever, nunca acessar produção, dizer “não sei” se o RAG não achar, citar a fonte.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Pool de prompts versionado (prompt-garden) — montagem determinística.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Persona no início do prompt; sessão/RAG/histórico na cauda.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Evita alucinação ao restringir a base de conhecimento.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982066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98206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969618" y="6199632"/>
            <a:ext cx="907085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9618" y="6190488"/>
            <a:ext cx="90708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41294" y="6199632"/>
            <a:ext cx="1881835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1294" y="6190488"/>
            <a:ext cx="188183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em texto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o modelo (LLM) com visão de custo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 densa (ADR + código) pede janela de contexto ampla e bom raciocínio.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2–3 modelos antes de fixar: custo por 1M de tokens (entrada/saída), janela, latência e qualidade em PT-BR técnico.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Claude Code, decida o modelo do agente e acompanhe o custo do uso.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Entregável: tabela com 2 modelos + decisão registrada em 1 ADR.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 roteador escolhe o modelo por tier e mede o custo por chamada.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Custo imutável rastreado por chamada (kernel.db).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Transparência de custo para o cliente desde a escolha.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1581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custo/1M tokens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9464" y="6199632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9464" y="6190488"/>
            <a:ext cx="18068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contexto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40910" y="6199632"/>
            <a:ext cx="68214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0910" y="6190488"/>
            <a:ext cx="6821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&amp; Integrações (MCP)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Dimastec já tem servidor MCP interno — conecte-o agora.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Exponha ferramentas somente-leitura: busca na base de conhecimento (RAG), leitura de ADR, leitura de código.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Claude Code, as ferramentas MCP entram no mesmo arquivo de configuração do projeto.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ao vivo: uma chamada MCP que busca um trecho de ADR e responde citando o arquivo.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Kernel expõe ferramentas MCP sobre stdio com classificação L1/L2/L3.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soul só enxerga as ferramentas da sua allowlist.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Trust: ferramentas de escrita bloqueadas por padrão.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68214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6821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669694" y="6199632"/>
            <a:ext cx="1132027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69694" y="6190488"/>
            <a:ext cx="113202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966314" y="6199632"/>
            <a:ext cx="1132027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66314" y="6190488"/>
            <a:ext cx="113202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(RAG + histórico)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assistente precisa lembrar do contexto sem ter tudo no prompt a cada vez.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 documentos aprovados (allowlist): ADRs do Saturno, políticas (ISO 27001/LGPD/POL-IA-001) e código sanitizado — sem dados de produção.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 o histórico por thread/sessão para conversas contínuas.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RAG não acha nada, responder “sem contexto” em vez de inventar.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RAG com embeddings + re-rank opcional e cache semântico.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Limiar de relevância: sem doc relevante, responde sem contexto.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Política de memória impede indexar dados sensíveis.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105704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vetorial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044598" y="6199632"/>
            <a:ext cx="1132027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44598" y="6190488"/>
            <a:ext cx="113202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341218" y="6199632"/>
            <a:ext cx="1881835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41218" y="6190488"/>
            <a:ext cx="188183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dados sensíveis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 — o fluxo do agente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Defina o caminho: entende a pergunta → recupera contexto (RAG) → decide se usa ferramenta → responde.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por complexidade: pergunta curta → resposta rápida; “passo a passo”/“análise” → fluxo mais profundo.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Decida quando ele pode chamar ferramenta e o que fazer em erro (limite de tentativas, timeout, dizer “não consegui”).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Grafo LangGraph: retrieve → generate ↷ tools com limite de iterações.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Streaming por etapa (cada node emite evento).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Escalonamento quando o contexto é fraco.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6199632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190488"/>
            <a:ext cx="105704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044598" y="6199632"/>
            <a:ext cx="1057046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44598" y="6190488"/>
            <a:ext cx="105704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66237" y="6199632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6237" y="6190488"/>
            <a:ext cx="832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62933" y="6199632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62933" y="6190488"/>
            <a:ext cx="832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— como o time vai usar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chat no terminal/IDE (Claude Code) sendo o próprio assistente, com prompt + MCP configurados.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interface web de chat para o time, com histórico por usuário.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(opcional): API para integrar ao fluxo de suporte existente.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Comece simples; evolua a interface conforme uso real.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Chat via REST/WebSocket com streaming etapa-a-etapa.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Painel web mostra o grafo rodando ao vivo.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Ideia para o CTO: ver o agente “pensar” em tempo real.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1356970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135697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terminal/IDE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344522" y="6199632"/>
            <a:ext cx="68214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44522" y="6190488"/>
            <a:ext cx="6821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91256" y="6199632"/>
            <a:ext cx="68214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91256" y="6190488"/>
            <a:ext cx="6821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&amp; Evals — qualidade mensurável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966960" y="320040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54864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CE7F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7830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 COM CLAUDE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224028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eval não há como provar que o assistente melhora ao longo do tempo.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9864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um golden set real do Saturno: ex. “qual o padrão de DAO multi-tenant?” → citar o ADR/pattern; “todo endpoint precisa de @Secured?” → sim, pelos rules.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55701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Meça hit@1 (doc certo em 1º?), MRR e recall@5 + fidelidade ao contexto (não alucinar).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421538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no CI: pergunta abaixo do piso (ex.: hit@1 ≥ 0.7) bloqueia o release.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1600200"/>
            <a:ext cx="4846320" cy="4434840"/>
          </a:xfrm>
          <a:prstGeom prst="roundRect">
            <a:avLst>
              <a:gd name="adj" fmla="val 2474"/>
            </a:avLst>
          </a:prstGeom>
          <a:solidFill>
            <a:srgbClr val="1F2761"/>
          </a:solidFill>
          <a:ln/>
          <a:effectLst>
            <a:outerShdw sx="100000" sy="100000" kx="0" ky="0" algn="bl" rotWithShape="0" blurRad="88900" dist="254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178308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 · ASSISTENTE-OS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12280" y="2240280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Comando de avaliação de RAG com golden set (hit@1/MRR/recall).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12280" y="2898648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Sai com erro se o piso não for atingido — gate em 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12280" y="3557016"/>
            <a:ext cx="429768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Dimastec já tem golden set com 23 casos no hub — ponto de partida.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6199632"/>
            <a:ext cx="1207008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190488"/>
            <a:ext cx="12070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6199632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94560" y="6190488"/>
            <a:ext cx="8321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91256" y="6199632"/>
            <a:ext cx="682142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91256" y="6190488"/>
            <a:ext cx="6821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037990" y="6199632"/>
            <a:ext cx="982066" cy="310896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 w="6350">
            <a:solidFill>
              <a:srgbClr val="DCE7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37990" y="6190488"/>
            <a:ext cx="98206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CI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ETAPAS EM 7 MOVIMENTOS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certa para o CTO ver valor rápido e segurança desde o início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68680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+ Guardrails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801368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938528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38528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167128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29968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99816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3236976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36976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3465576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98264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535424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35424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764024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26864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96712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5833872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833872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062472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25312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995160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7132320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132320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7360920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93608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8430768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430768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8659368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22208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592056" y="30175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9" name="Shape 37"/>
          <p:cNvSpPr/>
          <p:nvPr/>
        </p:nvSpPr>
        <p:spPr>
          <a:xfrm>
            <a:off x="9729216" y="2377440"/>
            <a:ext cx="1188720" cy="1737360"/>
          </a:xfrm>
          <a:prstGeom prst="roundRect">
            <a:avLst>
              <a:gd name="adj" fmla="val 7692"/>
            </a:avLst>
          </a:prstGeom>
          <a:solidFill>
            <a:srgbClr val="24307A"/>
          </a:solidFill>
          <a:ln/>
          <a:effectLst>
            <a:outerShdw sx="100000" sy="100000" kx="0" ky="0" algn="bl" rotWithShape="0" blurRad="76200" dist="25400" dir="5400000">
              <a:srgbClr val="000000">
                <a:alpha val="2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729216" y="248716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9957816" y="3017520"/>
            <a:ext cx="73152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20656" y="315468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fecha com um artefato mínimo: ADR · prompt versionado · tabela de modelo · allowlist · golden set.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0972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7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Mensagens-chave para o CTO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DCE7F5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874520"/>
            <a:ext cx="502920" cy="50292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202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37360" y="188366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teoria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256032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fluxo que aplicamos no Saturno-Calc: propósito → LLM → ferramentas → memória → orquestração → evals.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DCE7F5"/>
          </a:solidFill>
          <a:ln/>
        </p:spPr>
      </p:sp>
      <p:sp>
        <p:nvSpPr>
          <p:cNvPr id="11" name="Shape 9"/>
          <p:cNvSpPr/>
          <p:nvPr/>
        </p:nvSpPr>
        <p:spPr>
          <a:xfrm>
            <a:off x="6537960" y="1874520"/>
            <a:ext cx="502920" cy="50292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92024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23760" y="188366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em andamento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 Projeto Zero estão rolando; a Dimastec já usa Claude Code, Rovo e servidor MCP interno — a demo formaliza isso.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1148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DCE7F5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560" y="4343400"/>
            <a:ext cx="502920" cy="50292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38912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737360" y="435254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embutida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097280" y="502920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respeita ISO 27001 / LGPD / POL-IA-001 e a classificação de casos de uso (sem dados biométricos em runtime).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41148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DCE7F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7960" y="4343400"/>
            <a:ext cx="502920" cy="502920"/>
          </a:xfrm>
          <a:prstGeom prst="circle">
            <a:avLst/>
          </a:prstGeom>
          <a:solidFill>
            <a:srgbClr val="1F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4389120"/>
            <a:ext cx="502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23760" y="435254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de entrada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583680" y="502920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C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demo abre caminho para o piloto do assistente técnico do Mês 3 da mentoria.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Dimastec · Como Construir um Agente de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à escala, com prazo e dono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24307A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057400"/>
            <a:ext cx="457200" cy="457200"/>
          </a:xfrm>
          <a:prstGeom prst="circl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031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7510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 piloto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26280" y="1975104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Assistente técnico read-only no escopo do Mês 3 da mentoria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823960" y="197510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semana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197510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Everton + Natanael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71216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24307A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1560" y="3099816"/>
            <a:ext cx="457200" cy="457200"/>
          </a:xfrm>
          <a:prstGeom prst="circle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14553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0175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fontes aprovadas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0175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de documentação, ADRs e tickets sanitizados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823960" y="30175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0" y="30175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Everton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913632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24307A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1560" y="4142232"/>
            <a:ext cx="457200" cy="457200"/>
          </a:xfrm>
          <a:prstGeom prst="circle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18795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91640" y="40599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4059936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 qualidade e fidelidade do assistente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823960" y="405993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0" y="405993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Everton + Natanael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960" y="4956048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24307A"/>
          </a:solidFill>
          <a:ln/>
        </p:spPr>
      </p:sp>
      <p:sp>
        <p:nvSpPr>
          <p:cNvPr id="26" name="Shape 24"/>
          <p:cNvSpPr/>
          <p:nvPr/>
        </p:nvSpPr>
        <p:spPr>
          <a:xfrm>
            <a:off x="1051560" y="5184648"/>
            <a:ext cx="457200" cy="457200"/>
          </a:xfrm>
          <a:prstGeom prst="circle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1051560" y="52303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91640" y="510235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multiplicadores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26280" y="510235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de engenharia no método das 8 etapas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823960" y="510235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5102352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vamos construir juntos.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48640" y="64465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Sousa Lima Consultoria · Everton Lima · everton@sousalimaconsultoria.com.br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2026-08-29T16:04:19Z</dcterms:created>
  <dcterms:modified xsi:type="dcterms:W3CDTF">2026-08-29T16:04:19Z</dcterms:modified>
</cp:coreProperties>
</file>