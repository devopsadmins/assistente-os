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2430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4023360" cy="4023360"/>
          </a:xfrm>
          <a:prstGeom prst="ellipse">
            <a:avLst/>
          </a:prstGeom>
          <a:solidFill>
            <a:srgbClr val="28357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CONSTRUIR UM AGENTE DE 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Cliente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 etapas do método aplicadas ao assistente técnico do Saturno-Calc / MYDAS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Dimastec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CTO · Natanael Morais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5806440"/>
            <a:ext cx="2926080" cy="320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Everton Lima · 29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agenda da sessão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DCE7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3000" y="2514600"/>
            <a:ext cx="457200" cy="457200"/>
          </a:xfrm>
          <a:prstGeom prst="circle">
            <a:avLst/>
          </a:prstGeom>
          <a:solidFill>
            <a:srgbClr val="1F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420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4688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vê um agente em funcionamento aplicado ao contexto real da Dimastec — não um guia teórico.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3657600"/>
            <a:ext cx="457200" cy="457200"/>
          </a:xfrm>
          <a:prstGeom prst="circle">
            <a:avLst/>
          </a:prstGeom>
          <a:solidFill>
            <a:srgbClr val="1F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850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36118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 método das 8 etapas como padrão para os demais casos de uso.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43000" y="4800600"/>
            <a:ext cx="457200" cy="457200"/>
          </a:xfrm>
          <a:prstGeom prst="circle">
            <a:avLst/>
          </a:prstGeom>
          <a:solidFill>
            <a:srgbClr val="1F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280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47548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um próximo passo concreto: o piloto do assistente técnico read-only.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170992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83880" y="18196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17099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o método das 8 etapas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2404872"/>
            <a:ext cx="4617720" cy="0"/>
          </a:xfrm>
          <a:prstGeom prst="line">
            <a:avLst/>
          </a:prstGeom>
          <a:noFill/>
          <a:ln w="12700">
            <a:solidFill>
              <a:srgbClr val="DCE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257860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83880" y="26883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25786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 do assistente técnico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3273552"/>
            <a:ext cx="4617720" cy="0"/>
          </a:xfrm>
          <a:prstGeom prst="line">
            <a:avLst/>
          </a:prstGeom>
          <a:noFill/>
          <a:ln w="12700">
            <a:solidFill>
              <a:srgbClr val="DCE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4290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34472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183880" y="35570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34472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guardrails na prática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20840" y="4142232"/>
            <a:ext cx="4617720" cy="0"/>
          </a:xfrm>
          <a:prstGeom prst="line">
            <a:avLst/>
          </a:prstGeom>
          <a:noFill/>
          <a:ln w="12700">
            <a:solidFill>
              <a:srgbClr val="DCE7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297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43159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183880" y="44256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0" y="43159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e como medir qualidade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20840" y="5010912"/>
            <a:ext cx="4617720" cy="0"/>
          </a:xfrm>
          <a:prstGeom prst="line">
            <a:avLst/>
          </a:prstGeom>
          <a:noFill/>
          <a:ln w="12700">
            <a:solidFill>
              <a:srgbClr val="DCE7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5166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23760" y="518464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183880" y="5294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0" y="5184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e piloto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 etapas do guia em um só fluxo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F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Segurança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291840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56616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DCE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828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49040" y="2606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DCE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828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LLM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778240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05256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DCE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18288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35440" y="2606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(MCP)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38862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DCE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023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1005840" y="4800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(RAG)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291840" y="4572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3566160" y="38862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DCE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4023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3749040" y="4800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035040" y="4572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6309360" y="38862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DCE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4023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492240" y="4800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778240" y="4572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9052560" y="38862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F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52560" y="4023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9235440" y="4800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Evals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pensada para valor rápido (MCP + RAG respondem no dia 1) e segurança antes de escala (guardrails e evals desde o início).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escopo e barreiras de segurança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320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CE7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COM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propósito em 1 linha: tirar dúvidas do time sobre o Saturno/MYDAS lendo ADRs e código — sem escrever e sem tocar produção.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critério de sucesso: resposta certa + cita a fonte de onde tirou.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os guardrails mínimos: proibido escrever, proibido dados de produção, sempre citar fonte. Classifique o caso como IA aplicada (não-dados sensíveis).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1538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com o CTO os limites antes de qualquer código.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F2761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· ASSISTENTE-OS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Cada soul declara propósitos e permissões em config.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2898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runtime aplica allowlist de ferramentas e nega o resto por padrão (fail-closed).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35570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Alinhado à POL-IA-001 e à classificação de casos de uso da Dimastec.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199632"/>
            <a:ext cx="1132027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90488"/>
            <a:ext cx="113202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19579" y="6199632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19579" y="619048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91179" y="6199632"/>
            <a:ext cx="1656893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1179" y="6190488"/>
            <a:ext cx="165689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o comando que define o agente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320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CE7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COM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Claude Code, o prompt mora no arquivo de instruções do projeto/agente (ex.: AGENTS.md ou o prompt do subagente).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arquiteto sênior de Java que conhece o Saturno/MYDAS e responde em português com fonte.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Instruções: explicar a migração procedure → Java, citar camadas/patterns do hub (DAO, @Secured, route handler), responder só com base no material indexado.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1538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visíveis: nunca escrever, nunca acessar produção, dizer “não sei” se o RAG não achar, citar a fonte.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F2761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· ASSISTENTE-OS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Pool de prompts versionado (prompt-garden) — montagem determinística.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2898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 no início do prompt; sessão/RAG/histórico na cauda.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35570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Evita alucinação ao restringir a base de conhecimento.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199632"/>
            <a:ext cx="982066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90488"/>
            <a:ext cx="98206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69618" y="6199632"/>
            <a:ext cx="907085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9618" y="6190488"/>
            <a:ext cx="90708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41294" y="6199632"/>
            <a:ext cx="1881835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1294" y="6190488"/>
            <a:ext cx="18818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em texto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modelo (LLM) com visão de custo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320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CE7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COM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densa (ADR + código) pede janela de contexto ampla e bom raciocínio.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2–3 modelos antes de fixar: custo por 1M de tokens (entrada/saída), janela, latência e qualidade em PT-BR técnico.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Claude Code, decida o modelo do agente e acompanhe o custo do uso.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1538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Entregável: tabela com 2 modelos + decisão registrada em 1 ADR.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F2761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· ASSISTENTE-OS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roteador escolhe o modelo por tier e mede o custo por chamada.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2898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 imutável rastreado por chamada (kernel.db).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35570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Transparência de custo para o cliente desde a escolha.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199632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90488"/>
            <a:ext cx="1581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custo/1M tokens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9464" y="6199632"/>
            <a:ext cx="1806854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6190488"/>
            <a:ext cx="18068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contexto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40910" y="6199632"/>
            <a:ext cx="682142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0910" y="6190488"/>
            <a:ext cx="6821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&amp; Integrações (MCP)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320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CE7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COM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Dimastec já tem servidor MCP interno — conecte-o agora.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Exponha ferramentas somente-leitura: busca na base de conhecimento (RAG), leitura de ADR, leitura de código.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Claude Code, as ferramentas MCP entram no mesmo arquivo de configuração do projeto.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1538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ao vivo: uma chamada MCP que busca um trecho de ADR e responde citando o arquivo.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F2761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· ASSISTENTE-OS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Kernel expõe ferramentas MCP sobre stdio com classificação L1/L2/L3.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2898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soul só enxerga as ferramentas da sua allowlist.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35570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Trust: ferramentas de escrita bloqueadas por padrão.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199632"/>
            <a:ext cx="682142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90488"/>
            <a:ext cx="6821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69694" y="6199632"/>
            <a:ext cx="1132027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9694" y="6190488"/>
            <a:ext cx="113202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66314" y="6199632"/>
            <a:ext cx="1132027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66314" y="6190488"/>
            <a:ext cx="113202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(RAG + histórico)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320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CE7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COM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precisa lembrar do contexto sem ter tudo no prompt a cada vez.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 documentos aprovados (allowlist): ADRs do Saturno, políticas (ISO 27001/LGPD/POL-IA-001) e código sanitizado — sem dados de produção.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 o histórico por thread/sessão para conversas contínuas.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1538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RAG não acha nada, responder “sem contexto” em vez de inventar.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F2761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· ASSISTENTE-OS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RAG com embeddings + re-rank multilíngue opcional e cache semântico.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2898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Cita a fonte no formato [doc · similaridade · data] com score de confiança; abaixo do limiar, responde “evidência insuficiente”.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35570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Política de memória impede indexar dados sensíveis.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199632"/>
            <a:ext cx="1057046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90488"/>
            <a:ext cx="10570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44598" y="6199632"/>
            <a:ext cx="1132027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4598" y="6190488"/>
            <a:ext cx="113202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41218" y="6199632"/>
            <a:ext cx="1881835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1218" y="6190488"/>
            <a:ext cx="18818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sensíveis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— o fluxo do agente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320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CE7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COM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caminho: entende a pergunta → recupera contexto (RAG) → decide se usa ferramenta → responde.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por complexidade: pergunta curta → resposta rápida; “passo a passo”/“análise” → fluxo mais profundo.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 quando ele pode chamar ferramenta e o que fazer em erro (limite de tentativas, timeout, dizer “não consegui”).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160020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F2761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· ASSISTENTE-OS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22402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Grafo LangGraph: retrieve → generate ↷ tools com limite de iterações.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12280" y="2898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Streaming por etapa (cada node emite evento).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35570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Escalonamento quando o contexto é fraco.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6199632"/>
            <a:ext cx="1057046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190488"/>
            <a:ext cx="10570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44598" y="6199632"/>
            <a:ext cx="1057046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44598" y="6190488"/>
            <a:ext cx="10570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66237" y="6199632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6237" y="6190488"/>
            <a:ext cx="832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62933" y="6199632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2933" y="6190488"/>
            <a:ext cx="832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— como o time vai usar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320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CE7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COM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chat no terminal/IDE (Claude Code) sendo o próprio assistente, com prompt + MCP configurados.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interface web de chat para o time, com histórico por usuário.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(opcional): API para integrar ao fluxo de suporte existente.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1538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simples; evolua a interface conforme uso real.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F2761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· ASSISTENTE-OS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Chat via REST/WebSocket com streaming etapa-a-etapa.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2898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Painel web mostra o grafo rodando ao vivo.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35570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Ideia para o CTO: ver o agente “pensar” em tempo real.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199632"/>
            <a:ext cx="1356970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90488"/>
            <a:ext cx="13569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terminal/IDE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44522" y="6199632"/>
            <a:ext cx="682142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44522" y="6190488"/>
            <a:ext cx="6821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91256" y="6199632"/>
            <a:ext cx="682142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1256" y="6190488"/>
            <a:ext cx="6821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Evals — qualidade mensurável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320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CE7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COM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eval não há como provar que o assistente melhora ao longo do tempo.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898648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 golden set real do Saturno: ex. “qual o padrão de DAO multi-tenant?” → citar o ADR/pattern; “todo endpoint precisa de @Secured?” → sim, pelos rules.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hit@1 (doc certo em 1º?), MRR e recall@5 + fidelidade ao contexto (não alucinar) e taxa de recusa em perguntas adversariais.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1538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no CI: pergunta abaixo do piso (ex.: hit@1 ≥ 0.7) bloqueia o release.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F2761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· ASSISTENTE-OS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Comando de avaliação de RAG com golden set (hit@1/MRR/recall + taxa de recusa adversarial), com histórico de execuções.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2898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Sai com erro se o piso não for atingido — gate em CI.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35570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Já preparamos um golden set inicial com 23 casos a partir da documentação do hub — ponto de partida a expandir.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199632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9048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6199632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6190488"/>
            <a:ext cx="832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91256" y="6199632"/>
            <a:ext cx="682142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1256" y="6190488"/>
            <a:ext cx="6821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37990" y="6199632"/>
            <a:ext cx="982066" cy="31089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6350">
            <a:solidFill>
              <a:srgbClr val="DCE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37990" y="6190488"/>
            <a:ext cx="98206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ETAPAS EM 7 MOVIMENTOS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certa para o CTO ver valor rápido e segurança desde o início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188720" cy="1737360"/>
          </a:xfrm>
          <a:prstGeom prst="roundRect">
            <a:avLst>
              <a:gd name="adj" fmla="val 7692"/>
            </a:avLst>
          </a:prstGeom>
          <a:solidFill>
            <a:srgbClr val="24307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871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01752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54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+ Guardrails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01368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938528" y="2377440"/>
            <a:ext cx="1188720" cy="1737360"/>
          </a:xfrm>
          <a:prstGeom prst="roundRect">
            <a:avLst>
              <a:gd name="adj" fmla="val 7692"/>
            </a:avLst>
          </a:prstGeom>
          <a:solidFill>
            <a:srgbClr val="24307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24871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67128" y="301752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3154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99816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236976" y="2377440"/>
            <a:ext cx="1188720" cy="1737360"/>
          </a:xfrm>
          <a:prstGeom prst="roundRect">
            <a:avLst>
              <a:gd name="adj" fmla="val 7692"/>
            </a:avLst>
          </a:prstGeom>
          <a:solidFill>
            <a:srgbClr val="24307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36976" y="24871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465576" y="301752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3154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98264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535424" y="2377440"/>
            <a:ext cx="1188720" cy="1737360"/>
          </a:xfrm>
          <a:prstGeom prst="roundRect">
            <a:avLst>
              <a:gd name="adj" fmla="val 7692"/>
            </a:avLst>
          </a:prstGeom>
          <a:solidFill>
            <a:srgbClr val="24307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35424" y="24871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764024" y="301752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154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96712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833872" y="2377440"/>
            <a:ext cx="1188720" cy="1737360"/>
          </a:xfrm>
          <a:prstGeom prst="roundRect">
            <a:avLst>
              <a:gd name="adj" fmla="val 7692"/>
            </a:avLst>
          </a:prstGeom>
          <a:solidFill>
            <a:srgbClr val="24307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33872" y="24871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062472" y="301752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3154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9516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132320" y="2377440"/>
            <a:ext cx="1188720" cy="1737360"/>
          </a:xfrm>
          <a:prstGeom prst="roundRect">
            <a:avLst>
              <a:gd name="adj" fmla="val 7692"/>
            </a:avLst>
          </a:prstGeom>
          <a:solidFill>
            <a:srgbClr val="24307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0" y="24871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360920" y="301752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3154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93608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430768" y="2377440"/>
            <a:ext cx="1188720" cy="1737360"/>
          </a:xfrm>
          <a:prstGeom prst="roundRect">
            <a:avLst>
              <a:gd name="adj" fmla="val 7692"/>
            </a:avLst>
          </a:prstGeom>
          <a:solidFill>
            <a:srgbClr val="24307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30768" y="24871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659368" y="301752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3154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592056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729216" y="2377440"/>
            <a:ext cx="1188720" cy="1737360"/>
          </a:xfrm>
          <a:prstGeom prst="roundRect">
            <a:avLst>
              <a:gd name="adj" fmla="val 7692"/>
            </a:avLst>
          </a:prstGeom>
          <a:solidFill>
            <a:srgbClr val="24307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729216" y="24871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9957816" y="301752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20656" y="3154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fecha com um artefato mínimo: ADR · prompt versionado · tabela de modelo · allowlist · golden set.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Mensagens-chave para o CTO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DCE7F5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874520"/>
            <a:ext cx="502920" cy="502920"/>
          </a:xfrm>
          <a:prstGeom prst="circle">
            <a:avLst/>
          </a:prstGeom>
          <a:solidFill>
            <a:srgbClr val="1F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202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18836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teoria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fluxo que aplicamos no Saturno-Calc: propósito → LLM → ferramentas → memória → orquestração → evals.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DCE7F5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874520"/>
            <a:ext cx="502920" cy="502920"/>
          </a:xfrm>
          <a:prstGeom prst="circle">
            <a:avLst/>
          </a:prstGeom>
          <a:solidFill>
            <a:srgbClr val="1F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202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18836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em andamento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 Projeto Zero estão rolando; a Dimastec já usa Claude Code, Rovo e servidor MCP interno — a demo formaliza isso.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DCE7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4343400"/>
            <a:ext cx="502920" cy="502920"/>
          </a:xfrm>
          <a:prstGeom prst="circle">
            <a:avLst/>
          </a:prstGeom>
          <a:solidFill>
            <a:srgbClr val="1F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389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3525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embutida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97280" y="50292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respeita ISO 27001 / LGPD / POL-IA-001 e a classificação de casos de uso (sem dados biométricos em runtime).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DCE7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343400"/>
            <a:ext cx="502920" cy="502920"/>
          </a:xfrm>
          <a:prstGeom prst="circle">
            <a:avLst/>
          </a:prstGeom>
          <a:solidFill>
            <a:srgbClr val="1F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389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43525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demo abre caminho para o piloto do assistente técnico do Mês 3 da mentoria.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Dimastec · Como Construir um Agente de 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piloto à escala, com prazo e dono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4307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circl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9751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piloto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26280" y="197510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técnico read-only no escopo do Mês 3 da mentoria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23960" y="197510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197510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Everton + Natanael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87121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4307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3099816"/>
            <a:ext cx="457200" cy="457200"/>
          </a:xfrm>
          <a:prstGeom prst="circl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1455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fontes aprovadas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3017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de documentação, ADRs e tickets sanitizados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2396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0" y="30175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Everton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91363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4307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4142232"/>
            <a:ext cx="457200" cy="457200"/>
          </a:xfrm>
          <a:prstGeom prst="circl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1879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059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40599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qualidade e fidelidade do assistente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23960" y="40599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0" y="405993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Everton + Natanael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956048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4307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5184648"/>
            <a:ext cx="457200" cy="457200"/>
          </a:xfrm>
          <a:prstGeom prst="circl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230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51023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multiplicadores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6280" y="51023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de engenharia no método das 8 etapas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23960" y="5102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0" y="510235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— vamos construir juntos.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Sousa Lima Consultoria · Everton Lima · everton@sousalimaconsultoria.com.br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2026-08-31T03:21:30Z</dcterms:created>
  <dcterms:modified xsi:type="dcterms:W3CDTF">2026-08-31T03:21:30Z</dcterms:modified>
</cp:coreProperties>
</file>